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Inter Tight"/>
      <p:regular r:id="rId201315"/>
    </p:embeddedFont>
    <p:embeddedFont>
      <p:font typeface="Inter Tight SemiBold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DAF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60383" y="617220"/>
            <a:ext cx="70610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PROJETO · TIG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0383" y="2554942"/>
            <a:ext cx="6603835" cy="2702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Desenvolvimento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 um sistema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de gestão Web</a:t>
            </a:r>
            <a:endParaRPr lang="en-US" sz="56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para uma clínica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60383" y="5392995"/>
            <a:ext cx="706102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Protótipo desenvolvido com HTML, CSS, PHP e MySQL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0383" y="5873472"/>
            <a:ext cx="6603835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NARCISO SALOMÃO JOÃO · CTI · TIG · INSTITUTO TÉCNICO COMERCIAL DE LUANDA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A186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3809905" cy="12834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72140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54102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01 · PROBLEMA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9585" y="862060"/>
            <a:ext cx="6629234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 gestão manual atrasa o atendimento e fragiliza a informação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09585" y="1924447"/>
            <a:ext cx="662923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Histórico disperso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09585" y="2374662"/>
            <a:ext cx="6629234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Fichas em papel dificultam localizar e conservar o histórico dos pacientes.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09585" y="3421658"/>
            <a:ext cx="662923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Agenda vulnerável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09585" y="3871873"/>
            <a:ext cx="662923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agenda em caderno permite marcações duplicadas ou sobrepostas.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9585" y="4627463"/>
            <a:ext cx="662923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Informação limitada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09585" y="5077678"/>
            <a:ext cx="662923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Relatórios exigem contagem manual e a confidencialidade fica limitada.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A186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585" y="3171627"/>
            <a:ext cx="6629234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0"/>
          <p:cNvSpPr/>
          <p:nvPr/>
        </p:nvSpPr>
        <p:spPr>
          <a:xfrm>
            <a:off x="609585" y="4377432"/>
            <a:ext cx="6629234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39420"/>
            <a:ext cx="116075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 · RESPOSTA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4185" y="760460"/>
            <a:ext cx="1102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 sistema proposto centraliza pacientes, consultas e acessos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84185" y="1371362"/>
            <a:ext cx="11023324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protótipo responde ao problema com uma aplicação Web acessível pelo navegador e organizada em torno de dados clínicos estruturados.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4185" y="2149277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6" y="2323902"/>
            <a:ext cx="323842" cy="323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4185" y="2989858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Pacientes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84185" y="3440073"/>
            <a:ext cx="252723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Pesquisa e cadastro de pacientes.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568611" y="2149277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231" y="2323902"/>
            <a:ext cx="323842" cy="323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8611" y="2989858"/>
            <a:ext cx="229864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Consultas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3568611" y="3440073"/>
            <a:ext cx="229864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Agenda de médicos e consultas.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324442" y="2149277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62" y="2323902"/>
            <a:ext cx="323842" cy="3238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24442" y="2989858"/>
            <a:ext cx="229864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Registos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324442" y="3440073"/>
            <a:ext cx="229864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Histórico, observações e relatórios simples.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9080273" y="2149277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893" y="2323902"/>
            <a:ext cx="323842" cy="3238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80273" y="2989858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Acessos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9080273" y="3440073"/>
            <a:ext cx="252723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Perfis para administrador, médico e recepção.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3333667" y="2149277"/>
            <a:ext cx="12700" cy="18655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16"/>
          <p:cNvSpPr/>
          <p:nvPr/>
        </p:nvSpPr>
        <p:spPr>
          <a:xfrm>
            <a:off x="6089498" y="2149277"/>
            <a:ext cx="12700" cy="18655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17"/>
          <p:cNvSpPr/>
          <p:nvPr/>
        </p:nvSpPr>
        <p:spPr>
          <a:xfrm>
            <a:off x="8845329" y="2149277"/>
            <a:ext cx="12700" cy="1865511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90220"/>
            <a:ext cx="116075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 · OBJETIVO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4185" y="811260"/>
            <a:ext cx="1102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 objetivo é informatizar a rotina da clínica com segurança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84185" y="2921099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4185" y="3223320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386931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Necessidades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4185" y="3837146"/>
            <a:ext cx="2527237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Levantar requisitos funcionais e não funcionais.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16215" y="2921099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6215" y="3223320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0" name="Text 8"/>
          <p:cNvSpPr/>
          <p:nvPr/>
        </p:nvSpPr>
        <p:spPr>
          <a:xfrm>
            <a:off x="3416215" y="3386931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16215" y="3837146"/>
            <a:ext cx="2527237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Respeitar a integridade e os relacionamentos da base de dados.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244" y="2921099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3223320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386931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Implementação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48244" y="3837146"/>
            <a:ext cx="2527237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Autenticação, gestão de pacientes e marcação de consultas.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80273" y="2921099"/>
            <a:ext cx="8826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80273" y="3223320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8" name="Text 16"/>
          <p:cNvSpPr/>
          <p:nvPr/>
        </p:nvSpPr>
        <p:spPr>
          <a:xfrm>
            <a:off x="9080273" y="3386931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Protecção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80273" y="3837146"/>
            <a:ext cx="2527237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Aplicar boas práticas de segurança e protecção de dados pessoais.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39420"/>
            <a:ext cx="116075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 · TECNOLOGIA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4185" y="760460"/>
            <a:ext cx="1102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PHP e MySQL equilibram custo, aprendizagem e estrutura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4185" y="1350566"/>
            <a:ext cx="3471180" cy="2442766"/>
          </a:xfrm>
          <a:prstGeom prst="roundRect">
            <a:avLst>
              <a:gd name="adj" fmla="val 468"/>
            </a:avLst>
          </a:prstGeom>
          <a:solidFill>
            <a:srgbClr val="A186F3"/>
          </a:solidFill>
          <a:ln/>
        </p:spPr>
      </p:sp>
      <p:sp>
        <p:nvSpPr>
          <p:cNvPr id="5" name="Shape 3"/>
          <p:cNvSpPr/>
          <p:nvPr/>
        </p:nvSpPr>
        <p:spPr>
          <a:xfrm>
            <a:off x="838179" y="1629966"/>
            <a:ext cx="102996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7656" y="1699990"/>
            <a:ext cx="138059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ESCOLHA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179" y="2066627"/>
            <a:ext cx="29631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PHP + MySQL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38179" y="2597011"/>
            <a:ext cx="2963193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Software livre, hospedagem acessível e instalação simples com XAMPP.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0158" y="1350566"/>
            <a:ext cx="3471280" cy="2442766"/>
          </a:xfrm>
          <a:prstGeom prst="roundRect">
            <a:avLst>
              <a:gd name="adj" fmla="val 468"/>
            </a:avLst>
          </a:prstGeom>
          <a:noFill/>
          <a:ln w="25399">
            <a:solidFill>
              <a:srgbClr val="876C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9551" y="1655366"/>
            <a:ext cx="1580714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9028" y="1725390"/>
            <a:ext cx="19313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ALTERNATIVAS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39551" y="2092027"/>
            <a:ext cx="291249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Outras combinações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39551" y="2622411"/>
            <a:ext cx="2912494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ASP.NET + SQL Server, Django + PostgreSQL e Node.js + MongoDB.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6230" y="1350566"/>
            <a:ext cx="3471280" cy="2442766"/>
          </a:xfrm>
          <a:prstGeom prst="roundRect">
            <a:avLst>
              <a:gd name="adj" fmla="val 468"/>
            </a:avLst>
          </a:prstGeom>
          <a:solidFill>
            <a:srgbClr val="A18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0224" y="1629966"/>
            <a:ext cx="125032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519701" y="1699990"/>
            <a:ext cx="160095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ESTRUTURA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90224" y="2066627"/>
            <a:ext cx="296329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Modelo relacional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90224" y="2597011"/>
            <a:ext cx="2963292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Adequado para ligar pacientes, médicos, especialidades e consultas.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1714183"/>
            <a:ext cx="116075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05 · FLUXO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4185" y="2035223"/>
            <a:ext cx="1102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Quatro tecnologias formam o fluxo cliente-servidor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84185" y="2638028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4185" y="2940248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3103860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HTML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4185" y="3554075"/>
            <a:ext cx="252723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Estrutura de formulários, tabelas e páginas.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16215" y="2638028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6215" y="2940248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0" name="Text 8"/>
          <p:cNvSpPr/>
          <p:nvPr/>
        </p:nvSpPr>
        <p:spPr>
          <a:xfrm>
            <a:off x="3416215" y="3103860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CSS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16215" y="3554075"/>
            <a:ext cx="2527237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Apresentação visual e adaptação a diferentes ecrãs.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244" y="2638028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2940248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103860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PHP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48244" y="3554075"/>
            <a:ext cx="2527237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Autenticação, validação, sessões e lógica de negócio.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80273" y="2638028"/>
            <a:ext cx="8826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80273" y="2940248"/>
            <a:ext cx="25271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8" name="Text 16"/>
          <p:cNvSpPr/>
          <p:nvPr/>
        </p:nvSpPr>
        <p:spPr>
          <a:xfrm>
            <a:off x="9080273" y="3103860"/>
            <a:ext cx="252723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MySQL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80273" y="3554075"/>
            <a:ext cx="252723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Armazenamento relacional dos dados clínicos.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7380" y="4804688"/>
            <a:ext cx="530846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APOIO AO DESENVOLVIMENTO E AOS TESTES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9042" y="4805720"/>
            <a:ext cx="5308467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XAMPP · phpMyAdmin · Visual Studio Code · navegador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41020"/>
            <a:ext cx="386070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06 · ARQUITECTURA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862060"/>
            <a:ext cx="3505112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 arquitetura separa apresentação, lógica e dados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772966"/>
            <a:ext cx="3505112" cy="2233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navegador envia pedidos ao servidor Web; o PHP processa as regras e consulta o MySQL; o resultado regressa como página HTML.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Apresentação: HTML e CSS. Lógica de negócio: PHP. Dados: MySQL.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6164282"/>
            <a:ext cx="386070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FLUXO CLIENTE-SERVIDOR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8882" y="2019201"/>
            <a:ext cx="6959426" cy="25193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06977" y="2399652"/>
            <a:ext cx="4293885" cy="22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7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Navegador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06977" y="3165193"/>
            <a:ext cx="4293885" cy="22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7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Servidor PHP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06977" y="3923776"/>
            <a:ext cx="4293885" cy="22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7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MySQL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98882" y="4627781"/>
            <a:ext cx="749281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ENTIDADES CENTRAIS: PACIENTES · MÉDICOS · CONSULTAS.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39420"/>
            <a:ext cx="116075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07 · MÓDULOS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4185" y="760460"/>
            <a:ext cx="1102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Os módulos principais transformam a rotina da receção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4185" y="1363266"/>
            <a:ext cx="507987" cy="50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4185" y="2037953"/>
            <a:ext cx="528306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Login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4185" y="2568337"/>
            <a:ext cx="551166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Autenticação e perfis de utilizador.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24442" y="1363266"/>
            <a:ext cx="507987" cy="50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4442" y="2037953"/>
            <a:ext cx="528306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Pacientes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24442" y="2568337"/>
            <a:ext cx="52830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Cadastro, pesquisa, edição e consulta.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84185" y="3308846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6" y="3483471"/>
            <a:ext cx="323842" cy="3238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4185" y="4148634"/>
            <a:ext cx="528306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Consultas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4185" y="4679017"/>
            <a:ext cx="551166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Marcação, remarcação, cancelamento e agenda diária.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324442" y="3308846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062" y="3483471"/>
            <a:ext cx="323842" cy="3238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24442" y="4148634"/>
            <a:ext cx="528306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Registos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324442" y="4679017"/>
            <a:ext cx="52830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Diagnóstico e observações associados à consulta.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089498" y="1363266"/>
            <a:ext cx="12700" cy="17169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5"/>
          <p:cNvSpPr/>
          <p:nvPr/>
        </p:nvSpPr>
        <p:spPr>
          <a:xfrm>
            <a:off x="584185" y="3073896"/>
            <a:ext cx="5511662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6"/>
          <p:cNvSpPr/>
          <p:nvPr/>
        </p:nvSpPr>
        <p:spPr>
          <a:xfrm>
            <a:off x="6089498" y="3080246"/>
            <a:ext cx="12700" cy="1882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7"/>
          <p:cNvSpPr/>
          <p:nvPr/>
        </p:nvSpPr>
        <p:spPr>
          <a:xfrm>
            <a:off x="6095848" y="3073896"/>
            <a:ext cx="5511662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414020"/>
            <a:ext cx="116075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08 · SEGURANÇA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4185" y="735060"/>
            <a:ext cx="1102332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 segurança começa no desenho do protótipo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84185" y="1299766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06" y="1474391"/>
            <a:ext cx="323842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185" y="2140347"/>
            <a:ext cx="344578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Palavras-passe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84185" y="2590562"/>
            <a:ext cx="367437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password_hash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 </a:t>
            </a:r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password_verify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487155" y="1299766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776" y="1474391"/>
            <a:ext cx="323842" cy="3238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7155" y="2140347"/>
            <a:ext cx="321728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SQL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487155" y="2590562"/>
            <a:ext cx="321728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Instruções preparadas reduzem o risco de injecção.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61629" y="1299766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250" y="1474391"/>
            <a:ext cx="323842" cy="323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1629" y="2140347"/>
            <a:ext cx="344588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Saída segura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161629" y="2590562"/>
            <a:ext cx="344588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Dados tratados com </a:t>
            </a:r>
            <a:pPr algn="l" indent="0" marL="0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htmlspecialchars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84185" y="3622477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06" y="3797102"/>
            <a:ext cx="323842" cy="3238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4185" y="4463058"/>
            <a:ext cx="344578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Sessões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584185" y="4913273"/>
            <a:ext cx="34457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Verificação e regeneração do identificador após o login.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487155" y="3622477"/>
            <a:ext cx="673083" cy="67310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776" y="3797102"/>
            <a:ext cx="323842" cy="3238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87155" y="4463058"/>
            <a:ext cx="712035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Produção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4487155" y="4913273"/>
            <a:ext cx="712035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HTTPS, backups, permissões limitadas e registo de acções.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4252211" y="1299766"/>
            <a:ext cx="12700" cy="20941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18"/>
          <p:cNvSpPr/>
          <p:nvPr/>
        </p:nvSpPr>
        <p:spPr>
          <a:xfrm>
            <a:off x="7926685" y="1299766"/>
            <a:ext cx="12700" cy="20941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Shape 19"/>
          <p:cNvSpPr/>
          <p:nvPr/>
        </p:nvSpPr>
        <p:spPr>
          <a:xfrm>
            <a:off x="584185" y="3387527"/>
            <a:ext cx="3674375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0"/>
          <p:cNvSpPr/>
          <p:nvPr/>
        </p:nvSpPr>
        <p:spPr>
          <a:xfrm>
            <a:off x="4252211" y="3393877"/>
            <a:ext cx="12700" cy="20941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1"/>
          <p:cNvSpPr/>
          <p:nvPr/>
        </p:nvSpPr>
        <p:spPr>
          <a:xfrm>
            <a:off x="4258561" y="3387527"/>
            <a:ext cx="7348949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388620"/>
            <a:ext cx="115313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09 · 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790179"/>
            <a:ext cx="10921727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 protótipo demonstra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uma solução viável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 expansível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660383" y="3784362"/>
            <a:ext cx="10921727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HTML, CSS, PHP e MySQL melhoram a organização dos registos, a marcação de consultas e o controlo da informação numa clínica de pequena dimensão.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0383" y="4587677"/>
            <a:ext cx="5308368" cy="1845866"/>
          </a:xfrm>
          <a:prstGeom prst="roundRect">
            <a:avLst>
              <a:gd name="adj" fmla="val 619"/>
            </a:avLst>
          </a:prstGeom>
          <a:solidFill>
            <a:srgbClr val="A186F3"/>
          </a:solidFill>
          <a:ln/>
        </p:spPr>
      </p:sp>
      <p:sp>
        <p:nvSpPr>
          <p:cNvPr id="6" name="Shape 4"/>
          <p:cNvSpPr/>
          <p:nvPr/>
        </p:nvSpPr>
        <p:spPr>
          <a:xfrm>
            <a:off x="914377" y="4816277"/>
            <a:ext cx="11401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043854" y="4886301"/>
            <a:ext cx="149082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CUMPRIDO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377" y="5288022"/>
            <a:ext cx="48003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 protótipo cumpre os objetivos de levantamento, modelação e implementação.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3544" y="4587677"/>
            <a:ext cx="5308467" cy="1845866"/>
          </a:xfrm>
          <a:prstGeom prst="roundRect">
            <a:avLst>
              <a:gd name="adj" fmla="val 619"/>
            </a:avLst>
          </a:prstGeom>
          <a:noFill/>
          <a:ln w="25399">
            <a:solidFill>
              <a:srgbClr val="876C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2937" y="4841677"/>
            <a:ext cx="1911203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2414" y="4911701"/>
            <a:ext cx="226183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PRÓXIMOS PASSOS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52937" y="5313422"/>
            <a:ext cx="4749681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Histórico clínico completo, faturação, lembretes, relatórios em PDF e testes de segurança mais exigentes.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2026-10-19T18:58:44Z</dcterms:created>
  <dcterms:modified xsi:type="dcterms:W3CDTF">2026-10-19T18:58:44Z</dcterms:modified>
</cp:coreProperties>
</file>